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77" r:id="rId4"/>
    <p:sldId id="260" r:id="rId5"/>
    <p:sldId id="286" r:id="rId6"/>
    <p:sldId id="305" r:id="rId7"/>
    <p:sldId id="306" r:id="rId8"/>
    <p:sldId id="307" r:id="rId9"/>
    <p:sldId id="301" r:id="rId10"/>
    <p:sldId id="269" r:id="rId11"/>
    <p:sldId id="294" r:id="rId12"/>
    <p:sldId id="299" r:id="rId13"/>
    <p:sldId id="300" r:id="rId14"/>
    <p:sldId id="259" r:id="rId15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uyet Nguyen" initials="QN" lastIdx="1" clrIdx="0">
    <p:extLst>
      <p:ext uri="{19B8F6BF-5375-455C-9EA6-DF929625EA0E}">
        <p15:presenceInfo xmlns:p15="http://schemas.microsoft.com/office/powerpoint/2012/main" userId="9fafccae4523c1e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CC"/>
    <a:srgbClr val="0033CC"/>
    <a:srgbClr val="0000CC"/>
    <a:srgbClr val="006600"/>
    <a:srgbClr val="003399"/>
    <a:srgbClr val="FFF2CC"/>
    <a:srgbClr val="DAE3F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84748" autoAdjust="0"/>
  </p:normalViewPr>
  <p:slideViewPr>
    <p:cSldViewPr snapToGrid="0">
      <p:cViewPr varScale="1">
        <p:scale>
          <a:sx n="85" d="100"/>
          <a:sy n="85" d="100"/>
        </p:scale>
        <p:origin x="285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81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3944A4D-1D05-4FAA-BAD5-EBCDDF809544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DAEF0E8-5A1E-48D2-B79C-54B8EC8740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32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EF0E8-5A1E-48D2-B79C-54B8EC87404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365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EF0E8-5A1E-48D2-B79C-54B8EC87404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157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B6432-1631-987F-038F-F3F81E20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043FB-D60A-FFA7-7D1D-457AC2C56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D4D4F-3A03-5669-5361-FFBD41B6A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,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ở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gtri</a:t>
            </a:r>
            <a:r>
              <a:rPr lang="en-US" dirty="0"/>
              <a:t> 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0AEDA-7D1E-44EE-E341-A0A9F7234D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EF0E8-5A1E-48D2-B79C-54B8EC87404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765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934C6-D765-302E-B495-0D143744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C57F4-A860-E083-D4EE-715EE0907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F36FB-E2F0-54EB-B5FF-3AFCB3976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khuyến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mãi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khuyến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khuyến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mãi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outliers,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khuyến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khuyến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đợt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bệnh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Trung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mùa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Mùa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Summer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mạnh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mùa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mùa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Winter, Spring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Autumn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Spring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North, South, East, West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chênh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thì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feature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48893-029A-6A32-DA07-187784792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EF0E8-5A1E-48D2-B79C-54B8EC87404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538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037BC-C310-E19A-6F03-0092E632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C3F02-5161-6F30-E73B-A2D66E231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AA6FCF-F28F-D567-9808-DE2F008A7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West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East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Price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North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South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West/East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West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scatter (Demand vs Price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Region)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âm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kéo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(Region)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lấn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Price. Tuy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tồn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C9BED-2F9C-E61B-F877-E8DC1C315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EF0E8-5A1E-48D2-B79C-54B8EC87404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474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BF576-A3FE-0313-A877-3D9E28209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3B574-5717-CE33-C562-B8B40D894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F65C1-96FA-0328-D811-B58E1232E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bệnh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Epidemic = 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luôn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~106–120),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Epidemic = 1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~63–74).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xảy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bệnh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mạnh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491BD-B52E-5B43-8685-7244EB92B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EF0E8-5A1E-48D2-B79C-54B8EC87404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4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DFD4A-D1A0-792F-68AA-A86A9A33F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A652E-05BE-5C78-19C3-161093743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FA6BF-0A22-7F22-61F1-22B419AED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80FB6-3905-8AB3-901E-FA6E48E6B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EF0E8-5A1E-48D2-B79C-54B8EC87404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321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rừng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(Decision Trees)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cây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(majority voting).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Hồi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eXtreme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Gradient Boosting)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gradient boosting,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huấn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luyện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Random Forest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nhằm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(correct errors)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(loss function)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khởi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cây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EF0E8-5A1E-48D2-B79C-54B8EC87404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668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vi-VN" dirty="0"/>
                  <a:t>mỗi feature số sẽ được biến đổi về dạng: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𝜇</m:t>
                          </m:r>
                        </m:num>
                        <m:den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vi-VN" dirty="0"/>
                  <a:t>với </a:t>
                </a:r>
                <a14:m>
                  <m:oMath xmlns:m="http://schemas.openxmlformats.org/officeDocument/2006/math">
                    <m:r>
                      <a:rPr lang="vi-VN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𝜇</m:t>
                    </m:r>
                  </m:oMath>
                </a14:m>
                <a:r>
                  <a:rPr lang="vi-VN" dirty="0"/>
                  <a:t>là mean và </a:t>
                </a:r>
                <a14:m>
                  <m:oMath xmlns:m="http://schemas.openxmlformats.org/officeDocument/2006/math">
                    <m:r>
                      <a:rPr lang="vi-VN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𝜎</m:t>
                    </m:r>
                  </m:oMath>
                </a14:m>
                <a:r>
                  <a:rPr lang="vi-VN" dirty="0"/>
                  <a:t>là std </a:t>
                </a:r>
                <a:r>
                  <a:rPr lang="vi-VN" b="1" dirty="0"/>
                  <a:t>tính trên tập train</a:t>
                </a:r>
                <a:r>
                  <a:rPr lang="vi-VN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vi-VN" dirty="0"/>
                  <a:t>mỗi feature số sẽ được biến đổi về dạng: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𝑥^′=(𝑥−𝜇)/𝜎</a:t>
                </a:r>
                <a:endParaRPr lang="ar-AE" dirty="0"/>
              </a:p>
              <a:p>
                <a:r>
                  <a:rPr lang="vi-VN" dirty="0"/>
                  <a:t>với </a:t>
                </a:r>
                <a:r>
                  <a:rPr lang="vi-V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𝜇</a:t>
                </a:r>
                <a:r>
                  <a:rPr lang="vi-VN" dirty="0"/>
                  <a:t>là mean và </a:t>
                </a:r>
                <a:r>
                  <a:rPr lang="vi-V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</a:t>
                </a:r>
                <a:r>
                  <a:rPr lang="vi-VN" dirty="0"/>
                  <a:t>là std </a:t>
                </a:r>
                <a:r>
                  <a:rPr lang="vi-VN" b="1" dirty="0"/>
                  <a:t>tính trên tập train</a:t>
                </a:r>
                <a:r>
                  <a:rPr lang="vi-VN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EF0E8-5A1E-48D2-B79C-54B8EC87404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8145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RMSE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XGB Regressor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ổn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Random Forest.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R²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XGB Regressor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thích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EF0E8-5A1E-48D2-B79C-54B8EC87404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383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EB55D-5879-99EB-1B9C-A6BF5A9BE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9648-E4FF-325A-353D-1796C14A1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1DF17-F0BC-7BB6-12EA-D46E7C270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(≈91.75%)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đúng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rủi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thừa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false positive. Tuy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Recall ≈79.7%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sót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XGBClassifier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vượt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trội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 ≈94.55%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Recall ≈99.83%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tồn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sót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stockout.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nhầm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Random Forest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đúng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13,300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1,413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127 false positive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360 false negative.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false negative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rủi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stockout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đúng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13,325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1,770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102 false positive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false negative.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false negative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XGBClassifier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sớm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9327A-FB89-FAA3-8248-3987899AD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EF0E8-5A1E-48D2-B79C-54B8EC87404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070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EF0E8-5A1E-48D2-B79C-54B8EC87404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407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48410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76486"/>
            <a:ext cx="6858000" cy="21813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BA1002-03F9-4376-71A4-F00FE37423D8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652344"/>
          </a:xfrm>
          <a:prstGeom prst="rect">
            <a:avLst/>
          </a:prstGeom>
          <a:gradFill>
            <a:gsLst>
              <a:gs pos="0">
                <a:srgbClr val="3366CC"/>
              </a:gs>
              <a:gs pos="50000">
                <a:srgbClr val="003399"/>
              </a:gs>
              <a:gs pos="100000">
                <a:srgbClr val="000066"/>
              </a:gs>
            </a:gsLst>
            <a:lin ang="0" scaled="1"/>
          </a:gradFill>
        </p:spPr>
        <p:txBody>
          <a:bodyPr>
            <a:normAutofit/>
          </a:bodyPr>
          <a:lstStyle>
            <a:lvl1pPr marL="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2400" b="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1246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1170774"/>
            <a:ext cx="7881770" cy="5018889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B7252E5-EAE5-401F-A897-6DB5A4E01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74" y="0"/>
            <a:ext cx="9144000" cy="512064"/>
          </a:xfrm>
          <a:prstGeom prst="rect">
            <a:avLst/>
          </a:prstGeom>
          <a:gradFill>
            <a:gsLst>
              <a:gs pos="0">
                <a:srgbClr val="3366CC"/>
              </a:gs>
              <a:gs pos="50000">
                <a:srgbClr val="003399"/>
              </a:gs>
              <a:gs pos="100000">
                <a:srgbClr val="000066"/>
              </a:gs>
            </a:gsLst>
            <a:lin ang="0" scaled="1"/>
          </a:gradFill>
        </p:spPr>
        <p:txBody>
          <a:bodyPr>
            <a:normAutofit/>
          </a:bodyPr>
          <a:lstStyle>
            <a:lvl1pPr marL="457200">
              <a:lnSpc>
                <a:spcPct val="100000"/>
              </a:lnSpc>
              <a:spcBef>
                <a:spcPts val="0"/>
              </a:spcBef>
              <a:defRPr lang="en-US" sz="2400" b="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17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170774"/>
            <a:ext cx="3868340" cy="501888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170774"/>
            <a:ext cx="3887391" cy="501888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4843F40-0937-474A-A2C3-7E5A670FF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12064"/>
          </a:xfrm>
          <a:prstGeom prst="rect">
            <a:avLst/>
          </a:prstGeom>
          <a:gradFill>
            <a:gsLst>
              <a:gs pos="0">
                <a:srgbClr val="3366CC"/>
              </a:gs>
              <a:gs pos="50000">
                <a:srgbClr val="003399"/>
              </a:gs>
              <a:gs pos="100000">
                <a:srgbClr val="000066"/>
              </a:gs>
            </a:gsLst>
            <a:lin ang="0" scaled="1"/>
          </a:gradFill>
        </p:spPr>
        <p:txBody>
          <a:bodyPr>
            <a:normAutofit/>
          </a:bodyPr>
          <a:lstStyle>
            <a:lvl1pPr marL="457200">
              <a:lnSpc>
                <a:spcPct val="100000"/>
              </a:lnSpc>
              <a:spcBef>
                <a:spcPts val="0"/>
              </a:spcBef>
              <a:defRPr lang="en-US" sz="2400" b="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862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 Hoang </a:t>
            </a:r>
            <a:r>
              <a:rPr lang="en-US" dirty="0" err="1"/>
              <a:t>Thi</a:t>
            </a:r>
            <a:r>
              <a:rPr lang="en-US" dirty="0"/>
              <a:t> Minh Tam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6091091-5DA3-EA23-7690-8FCE1CC2A873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12064"/>
          </a:xfrm>
          <a:prstGeom prst="rect">
            <a:avLst/>
          </a:prstGeom>
          <a:gradFill>
            <a:gsLst>
              <a:gs pos="0">
                <a:srgbClr val="3366CC"/>
              </a:gs>
              <a:gs pos="50000">
                <a:srgbClr val="003399"/>
              </a:gs>
              <a:gs pos="100000">
                <a:srgbClr val="000066"/>
              </a:gs>
            </a:gsLst>
            <a:lin ang="0" scaled="1"/>
          </a:gradFill>
        </p:spPr>
        <p:txBody>
          <a:bodyPr>
            <a:normAutofit/>
          </a:bodyPr>
          <a:lstStyle>
            <a:lvl1pPr marL="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2400" b="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2116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024128"/>
            <a:ext cx="7886700" cy="5299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04185"/>
            <a:ext cx="9144000" cy="256032"/>
          </a:xfrm>
          <a:prstGeom prst="rect">
            <a:avLst/>
          </a:prstGeom>
          <a:solidFill>
            <a:srgbClr val="000066"/>
          </a:solidFill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Hoang </a:t>
            </a:r>
            <a:r>
              <a:rPr lang="en-US" dirty="0" err="1"/>
              <a:t>Thi</a:t>
            </a:r>
            <a:r>
              <a:rPr lang="en-US" dirty="0"/>
              <a:t> Minh Tam	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A99F3-CC40-4D6B-1A03-0921A982AE92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12064"/>
          </a:xfrm>
          <a:prstGeom prst="rect">
            <a:avLst/>
          </a:prstGeom>
          <a:gradFill>
            <a:gsLst>
              <a:gs pos="0">
                <a:srgbClr val="3366CC"/>
              </a:gs>
              <a:gs pos="50000">
                <a:srgbClr val="003399"/>
              </a:gs>
              <a:gs pos="100000">
                <a:srgbClr val="000066"/>
              </a:gs>
            </a:gsLst>
            <a:lin ang="0" scaled="1"/>
          </a:gradFill>
        </p:spPr>
        <p:txBody>
          <a:bodyPr>
            <a:normAutofit/>
          </a:bodyPr>
          <a:lstStyle>
            <a:lvl1pPr marL="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2400" b="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052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5" r:id="rId3"/>
    <p:sldLayoutId id="2147483667" r:id="rId4"/>
  </p:sldLayoutIdLst>
  <p:hf hdr="0"/>
  <p:txStyles>
    <p:titleStyle>
      <a:lvl1pPr marL="365760"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36576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Tx/>
        <a:buBlip>
          <a:blip r:embed="rId6"/>
        </a:buBlip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74320" algn="l" defTabSz="914400" rtl="0" eaLnBrk="1" latinLnBrk="0" hangingPunct="1">
        <a:lnSpc>
          <a:spcPct val="114000"/>
        </a:lnSpc>
        <a:spcBef>
          <a:spcPts val="600"/>
        </a:spcBef>
        <a:spcAft>
          <a:spcPts val="300"/>
        </a:spcAft>
        <a:buSzPct val="75000"/>
        <a:buFontTx/>
        <a:buBlip>
          <a:blip r:embed="rId7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300"/>
        </a:spcAft>
        <a:buSzPct val="60000"/>
        <a:buFontTx/>
        <a:buBlip>
          <a:blip r:embed="rId8"/>
        </a:buBlip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0F2AA4-1658-4F6B-BB02-7AF9E0610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731986"/>
            <a:ext cx="6858000" cy="12855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200" dirty="0"/>
              <a:t>GV </a:t>
            </a:r>
            <a:r>
              <a:rPr lang="en-US" sz="2200" dirty="0" err="1"/>
              <a:t>hướng</a:t>
            </a:r>
            <a:r>
              <a:rPr lang="en-US" sz="2200" dirty="0"/>
              <a:t> </a:t>
            </a:r>
            <a:r>
              <a:rPr lang="en-US" sz="2200" dirty="0" err="1"/>
              <a:t>dẫn</a:t>
            </a:r>
            <a:r>
              <a:rPr lang="en-US" sz="2200" dirty="0"/>
              <a:t>: Th. Nguyễn Văn </a:t>
            </a:r>
            <a:r>
              <a:rPr lang="en-US" sz="2200" dirty="0" err="1"/>
              <a:t>Quyết</a:t>
            </a:r>
            <a:endParaRPr lang="en-US" sz="2200" dirty="0"/>
          </a:p>
          <a:p>
            <a:pPr>
              <a:lnSpc>
                <a:spcPct val="120000"/>
              </a:lnSpc>
            </a:pPr>
            <a:r>
              <a:rPr lang="en-US" sz="2200" dirty="0"/>
              <a:t>SV </a:t>
            </a:r>
            <a:r>
              <a:rPr lang="en-US" sz="2200" dirty="0" err="1"/>
              <a:t>thực</a:t>
            </a:r>
            <a:r>
              <a:rPr lang="en-US" sz="2200" dirty="0"/>
              <a:t> </a:t>
            </a:r>
            <a:r>
              <a:rPr lang="en-US" sz="2200" dirty="0" err="1"/>
              <a:t>hiện</a:t>
            </a:r>
            <a:r>
              <a:rPr lang="en-US" sz="2200" dirty="0"/>
              <a:t>: Hoàng Thị Minh Tâm</a:t>
            </a:r>
          </a:p>
          <a:p>
            <a:pPr>
              <a:lnSpc>
                <a:spcPct val="120000"/>
              </a:lnSpc>
            </a:pPr>
            <a:endParaRPr lang="en-US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740CD-B225-42B6-8F87-4767868EA9B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-1" y="6172200"/>
            <a:ext cx="9144001" cy="688017"/>
          </a:xfrm>
        </p:spPr>
        <p:txBody>
          <a:bodyPr/>
          <a:lstStyle/>
          <a:p>
            <a:pPr algn="ctr"/>
            <a:r>
              <a:rPr lang="en-US" sz="1400" b="1" dirty="0"/>
              <a:t>	HUNG YEN UNIVERSITY OF TECHNOLOGY AND EDUCATION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79CC8C5C-C223-A2F7-EA66-15FB397D3C00}"/>
              </a:ext>
            </a:extLst>
          </p:cNvPr>
          <p:cNvSpPr txBox="1">
            <a:spLocks/>
          </p:cNvSpPr>
          <p:nvPr/>
        </p:nvSpPr>
        <p:spPr>
          <a:xfrm>
            <a:off x="1142999" y="1557309"/>
            <a:ext cx="6858000" cy="23056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300"/>
              </a:spcAft>
              <a:buSzPct val="75000"/>
              <a:buFontTx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SzPct val="60000"/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3200" b="1" dirty="0"/>
              <a:t>DỰ ĐOÁN NHU CẦU SẢN PHẨM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VÀ NGUY CƠ HẾT HÀNG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(Random Forest &amp; </a:t>
            </a:r>
            <a:r>
              <a:rPr lang="en-US" sz="2000" dirty="0" err="1"/>
              <a:t>XGBoost</a:t>
            </a:r>
            <a:r>
              <a:rPr lang="en-US" sz="2000" dirty="0"/>
              <a:t>)</a:t>
            </a:r>
          </a:p>
        </p:txBody>
      </p:sp>
      <p:sp>
        <p:nvSpPr>
          <p:cNvPr id="20" name="Title 7">
            <a:extLst>
              <a:ext uri="{FF2B5EF4-FFF2-40B4-BE49-F238E27FC236}">
                <a16:creationId xmlns:a16="http://schemas.microsoft.com/office/drawing/2014/main" id="{9005EADD-7764-ADFE-DA23-1BE7531B87DA}"/>
              </a:ext>
            </a:extLst>
          </p:cNvPr>
          <p:cNvSpPr txBox="1">
            <a:spLocks/>
          </p:cNvSpPr>
          <p:nvPr/>
        </p:nvSpPr>
        <p:spPr>
          <a:xfrm>
            <a:off x="-1" y="0"/>
            <a:ext cx="9144001" cy="776810"/>
          </a:xfrm>
          <a:prstGeom prst="rect">
            <a:avLst/>
          </a:prstGeom>
          <a:gradFill>
            <a:gsLst>
              <a:gs pos="0">
                <a:srgbClr val="3366CC"/>
              </a:gs>
              <a:gs pos="50000">
                <a:srgbClr val="003399"/>
              </a:gs>
              <a:gs pos="100000">
                <a:srgbClr val="000066"/>
              </a:gs>
            </a:gsLst>
            <a:lin ang="0" scaled="1"/>
          </a:gradFill>
        </p:spPr>
        <p:txBody>
          <a:bodyPr anchor="ctr">
            <a:normAutofit/>
          </a:bodyPr>
          <a:lstStyle>
            <a:lvl1pPr marL="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2400" b="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1400" b="1" dirty="0"/>
              <a:t>MACHINE LEARNING</a:t>
            </a:r>
          </a:p>
        </p:txBody>
      </p:sp>
      <p:sp>
        <p:nvSpPr>
          <p:cNvPr id="13" name="Freeform 12" descr="TRƯỜNG ĐẠI HỌC SƯ PHẠM KỸ THUẬT HƯNG YÊN">
            <a:extLst>
              <a:ext uri="{FF2B5EF4-FFF2-40B4-BE49-F238E27FC236}">
                <a16:creationId xmlns:a16="http://schemas.microsoft.com/office/drawing/2014/main" id="{60B2618E-05E7-8013-31FC-8F4615D57CFE}"/>
              </a:ext>
            </a:extLst>
          </p:cNvPr>
          <p:cNvSpPr/>
          <p:nvPr/>
        </p:nvSpPr>
        <p:spPr>
          <a:xfrm>
            <a:off x="1447799" y="6267170"/>
            <a:ext cx="651802" cy="498076"/>
          </a:xfrm>
          <a:custGeom>
            <a:avLst/>
            <a:gdLst/>
            <a:ahLst/>
            <a:cxnLst/>
            <a:rect l="l" t="t" r="r" b="b"/>
            <a:pathLst>
              <a:path w="1263410" h="965438">
                <a:moveTo>
                  <a:pt x="0" y="0"/>
                </a:moveTo>
                <a:lnTo>
                  <a:pt x="1263409" y="0"/>
                </a:lnTo>
                <a:lnTo>
                  <a:pt x="1263409" y="965438"/>
                </a:lnTo>
                <a:lnTo>
                  <a:pt x="0" y="965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3446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E0958-CF81-4EDE-ACCE-0FE01E2D3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886" y="1087834"/>
            <a:ext cx="8209360" cy="4472782"/>
          </a:xfrm>
        </p:spPr>
        <p:txBody>
          <a:bodyPr>
            <a:normAutofit/>
          </a:bodyPr>
          <a:lstStyle/>
          <a:p>
            <a:pPr marL="320040" lvl="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endParaRPr lang="en-US" sz="2400" dirty="0"/>
          </a:p>
          <a:p>
            <a:pPr marL="320040" lvl="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tả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</a:p>
          <a:p>
            <a:pPr marL="320040" lvl="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máy</a:t>
            </a:r>
            <a:endParaRPr lang="en-US" sz="2400" dirty="0"/>
          </a:p>
          <a:p>
            <a:pPr marL="320040" lvl="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/>
              <a:t>Cài </a:t>
            </a:r>
            <a:r>
              <a:rPr lang="en-US" sz="2400" dirty="0" err="1"/>
              <a:t>đặt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endParaRPr lang="en-US" sz="24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9DB4C06-9CA4-4BE6-ABC0-E2E1B0BA6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42128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FD4225-644F-F1A6-8349-041257BD61F0}"/>
              </a:ext>
            </a:extLst>
          </p:cNvPr>
          <p:cNvSpPr/>
          <p:nvPr/>
        </p:nvSpPr>
        <p:spPr>
          <a:xfrm>
            <a:off x="0" y="6513816"/>
            <a:ext cx="9144000" cy="344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2/14</a:t>
            </a:r>
          </a:p>
        </p:txBody>
      </p:sp>
    </p:spTree>
    <p:extLst>
      <p:ext uri="{BB962C8B-B14F-4D97-AF65-F5344CB8AC3E}">
        <p14:creationId xmlns:p14="http://schemas.microsoft.com/office/powerpoint/2010/main" val="307123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C64979-1275-33A8-5AAE-4F0DF1989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1" y="894304"/>
            <a:ext cx="7881770" cy="490359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Trong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lẻ</a:t>
            </a:r>
            <a:r>
              <a:rPr lang="en-US" dirty="0"/>
              <a:t>,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kho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nhiều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D</a:t>
            </a:r>
            <a:r>
              <a:rPr lang="vi-VN" dirty="0"/>
              <a:t>ự báo 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vi-VN" dirty="0"/>
              <a:t> và phát hiện nguy cơ hết hàng</a:t>
            </a:r>
            <a:r>
              <a:rPr lang="en-US" dirty="0"/>
              <a:t> </a:t>
            </a:r>
            <a:r>
              <a:rPr lang="vi-VN" dirty="0"/>
              <a:t>hỗ trợ quyết định nhập hàng và phân bổ tồn kho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Mục tiêu:</a:t>
            </a:r>
            <a:endParaRPr lang="vi-VN" dirty="0"/>
          </a:p>
          <a:p>
            <a:pPr lvl="1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vi-VN" sz="2200" dirty="0"/>
              <a:t>Dự đoán </a:t>
            </a:r>
            <a:r>
              <a:rPr lang="en-US" sz="2200" dirty="0" err="1"/>
              <a:t>nhu</a:t>
            </a:r>
            <a:r>
              <a:rPr lang="en-US" sz="2200" dirty="0"/>
              <a:t> </a:t>
            </a:r>
            <a:r>
              <a:rPr lang="en-US" sz="2200" dirty="0" err="1"/>
              <a:t>cầu</a:t>
            </a:r>
            <a:r>
              <a:rPr lang="vi-VN" sz="2200" dirty="0"/>
              <a:t> dựa trên các đặc trưng ảnh hưởng đến nhu cầu</a:t>
            </a:r>
          </a:p>
          <a:p>
            <a:pPr lvl="1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vi-VN" sz="2200" dirty="0"/>
              <a:t>Dự đoán nguy cơ hết hàng để cảnh báo sớm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D8E016-9BAF-9C56-1B91-32D0C158E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1. </a:t>
            </a:r>
            <a:r>
              <a:rPr lang="en-US" sz="2700" dirty="0" err="1"/>
              <a:t>Tổng</a:t>
            </a:r>
            <a:r>
              <a:rPr lang="en-US" sz="2700" dirty="0"/>
              <a:t> </a:t>
            </a:r>
            <a:r>
              <a:rPr lang="en-US" sz="2700" dirty="0" err="1"/>
              <a:t>quan</a:t>
            </a:r>
            <a:r>
              <a:rPr lang="en-US" sz="2700" dirty="0"/>
              <a:t> </a:t>
            </a:r>
            <a:r>
              <a:rPr lang="en-US" sz="2700" dirty="0" err="1"/>
              <a:t>bài</a:t>
            </a:r>
            <a:r>
              <a:rPr lang="en-US" sz="2700" dirty="0"/>
              <a:t> </a:t>
            </a:r>
            <a:r>
              <a:rPr lang="en-US" sz="2700" dirty="0" err="1"/>
              <a:t>toán</a:t>
            </a:r>
            <a:br>
              <a:rPr lang="en-US" sz="2800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CA269D-1652-6515-86A1-65B6E267D474}"/>
              </a:ext>
            </a:extLst>
          </p:cNvPr>
          <p:cNvSpPr/>
          <p:nvPr/>
        </p:nvSpPr>
        <p:spPr>
          <a:xfrm>
            <a:off x="0" y="6513816"/>
            <a:ext cx="9144000" cy="344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3/14</a:t>
            </a:r>
          </a:p>
        </p:txBody>
      </p:sp>
    </p:spTree>
    <p:extLst>
      <p:ext uri="{BB962C8B-B14F-4D97-AF65-F5344CB8AC3E}">
        <p14:creationId xmlns:p14="http://schemas.microsoft.com/office/powerpoint/2010/main" val="289895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76B77-ECC3-655D-C807-934C8ABD4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4E816-A9CE-2BE2-B5C7-0CE57BD4D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0034" y="759269"/>
            <a:ext cx="7511941" cy="550734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Dataset: Retail Store Inventory and Demand Forecasting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Gồm</a:t>
            </a:r>
            <a:r>
              <a:rPr lang="en-US" sz="2000" dirty="0"/>
              <a:t>: 16 </a:t>
            </a:r>
            <a:r>
              <a:rPr lang="en-US" sz="2000" dirty="0" err="1"/>
              <a:t>đặc</a:t>
            </a:r>
            <a:r>
              <a:rPr lang="en-US" sz="2000" dirty="0"/>
              <a:t> </a:t>
            </a:r>
            <a:r>
              <a:rPr lang="en-US" sz="2000" dirty="0" err="1"/>
              <a:t>trưng</a:t>
            </a:r>
            <a:r>
              <a:rPr lang="en-US" sz="2000" dirty="0"/>
              <a:t>, </a:t>
            </a:r>
            <a:r>
              <a:rPr lang="en-US" dirty="0"/>
              <a:t>76000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ghi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Source: https://www.kaggle.com/code/christophergspencer/retail-store-inventory-and-demand-forecasting?kernelSessionId=252148614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59C16-5A2F-4B05-D8E2-D2E6C3DBC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27BDF76-B277-5F57-89EA-7E278CA5A169}"/>
              </a:ext>
            </a:extLst>
          </p:cNvPr>
          <p:cNvSpPr txBox="1">
            <a:spLocks/>
          </p:cNvSpPr>
          <p:nvPr/>
        </p:nvSpPr>
        <p:spPr>
          <a:xfrm>
            <a:off x="670034" y="5560955"/>
            <a:ext cx="8162467" cy="824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576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Blip>
                <a:blip r:embed="rId3"/>
              </a:buBlip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7432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300"/>
              </a:spcAft>
              <a:buSzPct val="75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SzPct val="60000"/>
              <a:buFontTx/>
              <a:buBlip>
                <a:blip r:embed="rId5"/>
              </a:buBlip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748FA-EACA-DC69-1A3E-05FA7DAFEE7F}"/>
              </a:ext>
            </a:extLst>
          </p:cNvPr>
          <p:cNvSpPr/>
          <p:nvPr/>
        </p:nvSpPr>
        <p:spPr>
          <a:xfrm>
            <a:off x="0" y="6513816"/>
            <a:ext cx="9144000" cy="344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4/14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B15C8B-0CB9-1580-F109-9B6BE6AA28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495" y="2669813"/>
            <a:ext cx="6697010" cy="15146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AE19F67-06CC-C8FA-47F1-0675645581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37" y="4477738"/>
            <a:ext cx="6811326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028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E027D-05B2-7019-63FA-5C2A4960C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B18D4-E6F3-8CAE-E33F-9152C07DF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D25FB20-4B1F-E5D3-00C3-371F33BCA63E}"/>
              </a:ext>
            </a:extLst>
          </p:cNvPr>
          <p:cNvSpPr txBox="1">
            <a:spLocks/>
          </p:cNvSpPr>
          <p:nvPr/>
        </p:nvSpPr>
        <p:spPr>
          <a:xfrm>
            <a:off x="670034" y="5560955"/>
            <a:ext cx="8162467" cy="824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576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Blip>
                <a:blip r:embed="rId3"/>
              </a:buBlip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7432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300"/>
              </a:spcAft>
              <a:buSzPct val="75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SzPct val="60000"/>
              <a:buFontTx/>
              <a:buBlip>
                <a:blip r:embed="rId5"/>
              </a:buBlip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0F2233-4CCF-6047-C1D5-61945ED854EC}"/>
              </a:ext>
            </a:extLst>
          </p:cNvPr>
          <p:cNvSpPr/>
          <p:nvPr/>
        </p:nvSpPr>
        <p:spPr>
          <a:xfrm>
            <a:off x="0" y="6513816"/>
            <a:ext cx="9144000" cy="344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5/14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7734F9-93F1-CC9E-6DEA-D615709F6D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6056" y="770494"/>
            <a:ext cx="6811887" cy="510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53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753EA-E643-8ACE-710D-9921E53FA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316EE-1C46-EFD4-B67A-8D00D2C2E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1191812-C9E7-58B4-0D30-3B402CCEE729}"/>
              </a:ext>
            </a:extLst>
          </p:cNvPr>
          <p:cNvSpPr txBox="1">
            <a:spLocks/>
          </p:cNvSpPr>
          <p:nvPr/>
        </p:nvSpPr>
        <p:spPr>
          <a:xfrm>
            <a:off x="670034" y="5560955"/>
            <a:ext cx="8162467" cy="824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576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Blip>
                <a:blip r:embed="rId3"/>
              </a:buBlip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7432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300"/>
              </a:spcAft>
              <a:buSzPct val="75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SzPct val="60000"/>
              <a:buFontTx/>
              <a:buBlip>
                <a:blip r:embed="rId5"/>
              </a:buBlip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8A0C01-8F5C-72C8-118E-BB22125AAA56}"/>
              </a:ext>
            </a:extLst>
          </p:cNvPr>
          <p:cNvSpPr/>
          <p:nvPr/>
        </p:nvSpPr>
        <p:spPr>
          <a:xfrm>
            <a:off x="0" y="6513816"/>
            <a:ext cx="9144000" cy="344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6/14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163775-A0FB-45CB-B700-82DDA7CC0A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893" y="728025"/>
            <a:ext cx="4028745" cy="2663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7BF48E-0EFA-429B-BE57-37ADFE9630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2170" y="728025"/>
            <a:ext cx="4150662" cy="27435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B27DF0-35D7-ADD8-F185-D71B459F88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499" y="3499301"/>
            <a:ext cx="4028746" cy="2474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184DD2-EE26-1246-343D-9FD965EBEA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6360" y="3499301"/>
            <a:ext cx="4396141" cy="247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95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53A0D-0F39-34CD-FF6D-94085E090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2F6CE-34C2-6F77-AFDB-E378C9054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D920F36-E8ED-40D0-8486-AFED7246A6FC}"/>
              </a:ext>
            </a:extLst>
          </p:cNvPr>
          <p:cNvSpPr txBox="1">
            <a:spLocks/>
          </p:cNvSpPr>
          <p:nvPr/>
        </p:nvSpPr>
        <p:spPr>
          <a:xfrm>
            <a:off x="670034" y="5560955"/>
            <a:ext cx="8162467" cy="824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576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Blip>
                <a:blip r:embed="rId3"/>
              </a:buBlip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7432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300"/>
              </a:spcAft>
              <a:buSzPct val="75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SzPct val="60000"/>
              <a:buFontTx/>
              <a:buBlip>
                <a:blip r:embed="rId5"/>
              </a:buBlip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9B4EAF-5D51-CF8F-7D22-4F5238743671}"/>
              </a:ext>
            </a:extLst>
          </p:cNvPr>
          <p:cNvSpPr/>
          <p:nvPr/>
        </p:nvSpPr>
        <p:spPr>
          <a:xfrm>
            <a:off x="0" y="6513816"/>
            <a:ext cx="9144000" cy="344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7/14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83D092-691E-DC5B-7600-BEEDEC47E7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7853" y="590595"/>
            <a:ext cx="5998534" cy="29607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D4B91B-44E8-E3CA-FDA3-2978AEE5D9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0400" y="3537540"/>
            <a:ext cx="4401820" cy="272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53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3C9FD-641A-6C50-972E-FA18E33BA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9BB3E-2601-DD7E-D7F5-2F8F48581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D3B3DD0-B01E-F771-16FA-3F8E005C5BFC}"/>
              </a:ext>
            </a:extLst>
          </p:cNvPr>
          <p:cNvSpPr txBox="1">
            <a:spLocks/>
          </p:cNvSpPr>
          <p:nvPr/>
        </p:nvSpPr>
        <p:spPr>
          <a:xfrm>
            <a:off x="670034" y="5560955"/>
            <a:ext cx="8162467" cy="824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576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Blip>
                <a:blip r:embed="rId3"/>
              </a:buBlip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7432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300"/>
              </a:spcAft>
              <a:buSzPct val="75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SzPct val="60000"/>
              <a:buFontTx/>
              <a:buBlip>
                <a:blip r:embed="rId5"/>
              </a:buBlip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947E1-226B-5D57-249B-CC1F5CBA27A5}"/>
              </a:ext>
            </a:extLst>
          </p:cNvPr>
          <p:cNvSpPr/>
          <p:nvPr/>
        </p:nvSpPr>
        <p:spPr>
          <a:xfrm>
            <a:off x="0" y="6513816"/>
            <a:ext cx="9144000" cy="344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8/14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49424E-AD84-98C4-61F0-6057B6167B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194" y="640090"/>
            <a:ext cx="7547611" cy="29765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C6C707-4442-FE77-5C08-571CE45E77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935" y="3893292"/>
            <a:ext cx="7341870" cy="240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119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3691-8F6D-53E7-DAFB-493FB490B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4E1F3-40EF-42F1-BFFB-75C73315A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4851EB1-7231-6B2C-9142-5FDD0705C37F}"/>
              </a:ext>
            </a:extLst>
          </p:cNvPr>
          <p:cNvSpPr txBox="1">
            <a:spLocks/>
          </p:cNvSpPr>
          <p:nvPr/>
        </p:nvSpPr>
        <p:spPr>
          <a:xfrm>
            <a:off x="670034" y="5560955"/>
            <a:ext cx="8162467" cy="824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576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Blip>
                <a:blip r:embed="rId3"/>
              </a:buBlip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7432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300"/>
              </a:spcAft>
              <a:buSzPct val="75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SzPct val="60000"/>
              <a:buFontTx/>
              <a:buBlip>
                <a:blip r:embed="rId5"/>
              </a:buBlip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7BCB3E-A2C7-1E10-8FDF-97AFB9DCC268}"/>
              </a:ext>
            </a:extLst>
          </p:cNvPr>
          <p:cNvSpPr/>
          <p:nvPr/>
        </p:nvSpPr>
        <p:spPr>
          <a:xfrm>
            <a:off x="0" y="6513816"/>
            <a:ext cx="9144000" cy="344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9/14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42CD9E-05A1-5382-619C-E2D824E447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49" y="832715"/>
            <a:ext cx="7143702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03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047F9-5B2B-728A-BDA3-C496ABD9C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1EFCF2-5F49-54DE-FFC4-00B74560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máy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E45785-DEC1-1345-9907-FDD9B9789710}"/>
              </a:ext>
            </a:extLst>
          </p:cNvPr>
          <p:cNvSpPr/>
          <p:nvPr/>
        </p:nvSpPr>
        <p:spPr>
          <a:xfrm>
            <a:off x="0" y="6513816"/>
            <a:ext cx="9144000" cy="344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10/14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8EAE92-7A0A-15A4-1700-77A6158EA7EB}"/>
              </a:ext>
            </a:extLst>
          </p:cNvPr>
          <p:cNvSpPr txBox="1"/>
          <p:nvPr/>
        </p:nvSpPr>
        <p:spPr>
          <a:xfrm>
            <a:off x="704850" y="990600"/>
            <a:ext cx="7886700" cy="3584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Ramdom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Forest: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supervised learning,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ensemble learning,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hồi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eXtreme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Gradient Boosting):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họ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gradient boosting,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tổ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cây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quyết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huấn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luyện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tuần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9971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AAA6C-A498-96D4-7496-90AF1B486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813AC9-720A-A084-FF9B-6513A0349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Cài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3974BE-C27E-1C06-B34D-B9474959C1FA}"/>
              </a:ext>
            </a:extLst>
          </p:cNvPr>
          <p:cNvSpPr/>
          <p:nvPr/>
        </p:nvSpPr>
        <p:spPr>
          <a:xfrm>
            <a:off x="0" y="6513816"/>
            <a:ext cx="9144000" cy="344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11/14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032B52-2C71-5180-CA7D-29FDF696D6A0}"/>
              </a:ext>
            </a:extLst>
          </p:cNvPr>
          <p:cNvSpPr txBox="1"/>
          <p:nvPr/>
        </p:nvSpPr>
        <p:spPr>
          <a:xfrm>
            <a:off x="704850" y="828675"/>
            <a:ext cx="7886700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tỷ lệ giữa số lượng dự đoán đúng và tổng số mẫu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A9658F-177A-670F-2B52-61352EE6032E}"/>
              </a:ext>
            </a:extLst>
          </p:cNvPr>
          <p:cNvSpPr txBox="1"/>
          <p:nvPr/>
        </p:nvSpPr>
        <p:spPr>
          <a:xfrm>
            <a:off x="704850" y="2103719"/>
            <a:ext cx="788670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ánh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1030B-FCE0-9996-278F-A2B900E9BF1A}"/>
              </a:ext>
            </a:extLst>
          </p:cNvPr>
          <p:cNvSpPr txBox="1"/>
          <p:nvPr/>
        </p:nvSpPr>
        <p:spPr>
          <a:xfrm>
            <a:off x="746216" y="3882246"/>
            <a:ext cx="788670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F1-score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Precision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Recall,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390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9CFE-81A6-A37B-58BC-C6B4AEDDE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21DE7A-68AE-6C09-797F-6AB69E331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Cài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BCBA10-6063-ED48-23A3-DB9E363285CF}"/>
              </a:ext>
            </a:extLst>
          </p:cNvPr>
          <p:cNvSpPr/>
          <p:nvPr/>
        </p:nvSpPr>
        <p:spPr>
          <a:xfrm>
            <a:off x="0" y="6513816"/>
            <a:ext cx="9144000" cy="344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12/14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9BA67-4F08-655F-03E2-996809CB8A2B}"/>
              </a:ext>
            </a:extLst>
          </p:cNvPr>
          <p:cNvSpPr txBox="1"/>
          <p:nvPr/>
        </p:nvSpPr>
        <p:spPr>
          <a:xfrm>
            <a:off x="627376" y="642996"/>
            <a:ext cx="7886700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nhu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CAF6E1-602E-89B1-CA65-7909EA67C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81" y="1479425"/>
            <a:ext cx="7428228" cy="166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520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E3F73-E4BD-FB38-B6E9-A5DDB755B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BCDB2E-0CF4-4226-3E1F-A1ADD415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Cài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42C3A5-9C58-762E-EE77-ECA7A3F6C4B8}"/>
              </a:ext>
            </a:extLst>
          </p:cNvPr>
          <p:cNvSpPr/>
          <p:nvPr/>
        </p:nvSpPr>
        <p:spPr>
          <a:xfrm>
            <a:off x="0" y="6513816"/>
            <a:ext cx="9144000" cy="344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13/14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58936-B715-B3E5-29EB-885957DC3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981" y="3691533"/>
            <a:ext cx="3238376" cy="24287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EC4BBB-AD9C-EAF4-0D4E-A3409C85A5EA}"/>
              </a:ext>
            </a:extLst>
          </p:cNvPr>
          <p:cNvSpPr txBox="1"/>
          <p:nvPr/>
        </p:nvSpPr>
        <p:spPr>
          <a:xfrm>
            <a:off x="628650" y="737685"/>
            <a:ext cx="7886700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nguy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hết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6AB09F-D158-38F1-17BC-288E714FD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55" y="1560626"/>
            <a:ext cx="7428228" cy="161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277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E43505-1685-B5D8-672F-90215921DA78}"/>
              </a:ext>
            </a:extLst>
          </p:cNvPr>
          <p:cNvSpPr/>
          <p:nvPr/>
        </p:nvSpPr>
        <p:spPr>
          <a:xfrm>
            <a:off x="936651" y="2967335"/>
            <a:ext cx="72707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>
                  <a:solidFill>
                    <a:schemeClr val="accent4">
                      <a:lumMod val="20000"/>
                      <a:lumOff val="80000"/>
                    </a:schemeClr>
                  </a:solidFill>
                </a:ln>
                <a:solidFill>
                  <a:srgbClr val="3366CC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THANKS FOR LISTENING!</a:t>
            </a:r>
          </a:p>
        </p:txBody>
      </p:sp>
    </p:spTree>
    <p:extLst>
      <p:ext uri="{BB962C8B-B14F-4D97-AF65-F5344CB8AC3E}">
        <p14:creationId xmlns:p14="http://schemas.microsoft.com/office/powerpoint/2010/main" val="1618183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27478</TotalTime>
  <Words>1417</Words>
  <Application>Microsoft Office PowerPoint</Application>
  <PresentationFormat>On-screen Show (4:3)</PresentationFormat>
  <Paragraphs>101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Symbol</vt:lpstr>
      <vt:lpstr>Wingdings</vt:lpstr>
      <vt:lpstr>Office Theme</vt:lpstr>
      <vt:lpstr>PowerPoint Presentation</vt:lpstr>
      <vt:lpstr>Outlines</vt:lpstr>
      <vt:lpstr>1. Tổng quan bài toán  </vt:lpstr>
      <vt:lpstr>2. Mô tả dữ liệu</vt:lpstr>
      <vt:lpstr>2. Mô tả dữ liệu</vt:lpstr>
      <vt:lpstr>2. Mô tả dữ liệu</vt:lpstr>
      <vt:lpstr>2. Mô tả dữ liệu</vt:lpstr>
      <vt:lpstr>2. Mô tả dữ liệu</vt:lpstr>
      <vt:lpstr>2. Mô tả dữ liệu</vt:lpstr>
      <vt:lpstr>3. Mô hình học máy</vt:lpstr>
      <vt:lpstr>4. Cài đặt mô hình</vt:lpstr>
      <vt:lpstr>4. Cài đặt mô hình</vt:lpstr>
      <vt:lpstr>4. Cài đặt mô hình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2 - Xu ly du lieu lon voi Spark DataFrame- Nguyen Van Quyet</dc:title>
  <dc:creator>Quyet Nguyen</dc:creator>
  <cp:lastModifiedBy>Tâm Hoàng</cp:lastModifiedBy>
  <cp:revision>2086</cp:revision>
  <cp:lastPrinted>2019-05-23T13:04:15Z</cp:lastPrinted>
  <dcterms:created xsi:type="dcterms:W3CDTF">2019-03-28T16:26:48Z</dcterms:created>
  <dcterms:modified xsi:type="dcterms:W3CDTF">2026-01-17T04:38:19Z</dcterms:modified>
</cp:coreProperties>
</file>