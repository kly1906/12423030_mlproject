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77" r:id="rId4"/>
    <p:sldId id="260" r:id="rId5"/>
    <p:sldId id="283" r:id="rId6"/>
    <p:sldId id="284" r:id="rId7"/>
    <p:sldId id="285" r:id="rId8"/>
    <p:sldId id="286" r:id="rId9"/>
    <p:sldId id="269" r:id="rId10"/>
    <p:sldId id="289" r:id="rId11"/>
    <p:sldId id="288" r:id="rId12"/>
    <p:sldId id="290" r:id="rId13"/>
    <p:sldId id="292" r:id="rId14"/>
    <p:sldId id="293" r:id="rId15"/>
    <p:sldId id="298" r:id="rId16"/>
    <p:sldId id="294" r:id="rId17"/>
    <p:sldId id="291" r:id="rId18"/>
    <p:sldId id="299" r:id="rId19"/>
    <p:sldId id="259" r:id="rId20"/>
  </p:sldIdLst>
  <p:sldSz cx="9144000" cy="6858000" type="screen4x3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uyet Nguyen" initials="QN" lastIdx="1" clrIdx="0">
    <p:extLst>
      <p:ext uri="{19B8F6BF-5375-455C-9EA6-DF929625EA0E}">
        <p15:presenceInfo xmlns:p15="http://schemas.microsoft.com/office/powerpoint/2012/main" userId="9fafccae4523c1e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CC"/>
    <a:srgbClr val="0033CC"/>
    <a:srgbClr val="0000CC"/>
    <a:srgbClr val="006600"/>
    <a:srgbClr val="003399"/>
    <a:srgbClr val="FFF2CC"/>
    <a:srgbClr val="DAE3F3"/>
    <a:srgbClr val="00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86472" autoAdjust="0"/>
  </p:normalViewPr>
  <p:slideViewPr>
    <p:cSldViewPr snapToGrid="0">
      <p:cViewPr varScale="1">
        <p:scale>
          <a:sx n="87" d="100"/>
          <a:sy n="87" d="100"/>
        </p:scale>
        <p:origin x="279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81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3944A4D-1D05-4FAA-BAD5-EBCDDF809544}" type="datetimeFigureOut">
              <a:rPr lang="en-US" smtClean="0"/>
              <a:t>1/4/2026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4463" y="1162050"/>
            <a:ext cx="418147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0DAEF0E8-5A1E-48D2-B79C-54B8EC87404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323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365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157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CE4F-8AA1-F786-7183-4802E255E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30855-4BDB-12D3-0EB0-86F6BF380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64F44-988C-B0F9-6484-D0E21ECCD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481D9-BD7C-C8ED-363A-801B842E17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997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A7E12-7AFF-EC28-F817-53D3A2743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DDBD25-7DB8-4DA2-CAD1-52AFA0800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ACE37-2C35-9FE5-0E0D-2B4EA911B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5F18A-8F67-D952-84DC-12E576D07D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16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26B48-BC1F-BA3C-E06A-B867F2D9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5313F-0809-D569-A6F9-9AF2F7F83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489ED-FE97-0F23-7E81-BE7DE6D14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382C1-0352-F2F1-DA92-938438A83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593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B6432-1631-987F-038F-F3F81E20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043FB-D60A-FFA7-7D1D-457AC2C56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D4D4F-3A03-5669-5361-FFBD41B6A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0AEDA-7D1E-44EE-E341-A0A9F7234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765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EF0E8-5A1E-48D2-B79C-54B8EC87404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407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48410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76486"/>
            <a:ext cx="6858000" cy="218131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BA1002-03F9-4376-71A4-F00FE37423D8}"/>
              </a:ext>
            </a:extLst>
          </p:cNvPr>
          <p:cNvSpPr txBox="1">
            <a:spLocks/>
          </p:cNvSpPr>
          <p:nvPr userDrawn="1"/>
        </p:nvSpPr>
        <p:spPr>
          <a:xfrm>
            <a:off x="0" y="0"/>
            <a:ext cx="9144000" cy="652344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>
            <a:normAutofit/>
          </a:bodyPr>
          <a:lstStyle>
            <a:lvl1pPr marL="4572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1246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1" y="1170774"/>
            <a:ext cx="7881770" cy="5018889"/>
          </a:xfrm>
          <a:prstGeom prst="rect">
            <a:avLst/>
          </a:prstGeo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B7252E5-EAE5-401F-A897-6DB5A4E01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274" y="0"/>
            <a:ext cx="9144000" cy="512064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>
            <a:normAutofit/>
          </a:bodyPr>
          <a:lstStyle>
            <a:lvl1pPr marL="457200">
              <a:lnSpc>
                <a:spcPct val="100000"/>
              </a:lnSpc>
              <a:spcBef>
                <a:spcPts val="0"/>
              </a:spcBef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17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170774"/>
            <a:ext cx="3868340" cy="501888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170774"/>
            <a:ext cx="3887391" cy="501888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4843F40-0937-474A-A2C3-7E5A670FF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2064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>
            <a:normAutofit/>
          </a:bodyPr>
          <a:lstStyle>
            <a:lvl1pPr marL="457200">
              <a:lnSpc>
                <a:spcPct val="100000"/>
              </a:lnSpc>
              <a:spcBef>
                <a:spcPts val="0"/>
              </a:spcBef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862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 Hoang </a:t>
            </a:r>
            <a:r>
              <a:rPr lang="en-US" dirty="0" err="1"/>
              <a:t>Thi</a:t>
            </a:r>
            <a:r>
              <a:rPr lang="en-US" dirty="0"/>
              <a:t> Minh Tam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6091091-5DA3-EA23-7690-8FCE1CC2A873}"/>
              </a:ext>
            </a:extLst>
          </p:cNvPr>
          <p:cNvSpPr txBox="1">
            <a:spLocks/>
          </p:cNvSpPr>
          <p:nvPr userDrawn="1"/>
        </p:nvSpPr>
        <p:spPr>
          <a:xfrm>
            <a:off x="0" y="0"/>
            <a:ext cx="9144000" cy="512064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>
            <a:normAutofit/>
          </a:bodyPr>
          <a:lstStyle>
            <a:lvl1pPr marL="4572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2116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024128"/>
            <a:ext cx="7886700" cy="5299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604185"/>
            <a:ext cx="9144000" cy="256032"/>
          </a:xfrm>
          <a:prstGeom prst="rect">
            <a:avLst/>
          </a:prstGeom>
          <a:solidFill>
            <a:srgbClr val="000066"/>
          </a:solidFill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Hoang </a:t>
            </a:r>
            <a:r>
              <a:rPr lang="en-US" dirty="0" err="1"/>
              <a:t>Thi</a:t>
            </a:r>
            <a:r>
              <a:rPr lang="en-US" dirty="0"/>
              <a:t> Minh Tam		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6A99F3-CC40-4D6B-1A03-0921A982AE92}"/>
              </a:ext>
            </a:extLst>
          </p:cNvPr>
          <p:cNvSpPr txBox="1">
            <a:spLocks/>
          </p:cNvSpPr>
          <p:nvPr userDrawn="1"/>
        </p:nvSpPr>
        <p:spPr>
          <a:xfrm>
            <a:off x="0" y="0"/>
            <a:ext cx="9144000" cy="512064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>
            <a:normAutofit/>
          </a:bodyPr>
          <a:lstStyle>
            <a:lvl1pPr marL="4572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30521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5" r:id="rId3"/>
    <p:sldLayoutId id="2147483667" r:id="rId4"/>
  </p:sldLayoutIdLst>
  <p:hf hdr="0"/>
  <p:txStyles>
    <p:titleStyle>
      <a:lvl1pPr marL="365760"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365760" algn="l" defTabSz="914400" rtl="0" eaLnBrk="1" latinLnBrk="0" hangingPunct="1">
        <a:lnSpc>
          <a:spcPct val="100000"/>
        </a:lnSpc>
        <a:spcBef>
          <a:spcPts val="600"/>
        </a:spcBef>
        <a:spcAft>
          <a:spcPts val="300"/>
        </a:spcAft>
        <a:buFontTx/>
        <a:buBlip>
          <a:blip r:embed="rId6"/>
        </a:buBlip>
        <a:defRPr sz="2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74320" algn="l" defTabSz="914400" rtl="0" eaLnBrk="1" latinLnBrk="0" hangingPunct="1">
        <a:lnSpc>
          <a:spcPct val="114000"/>
        </a:lnSpc>
        <a:spcBef>
          <a:spcPts val="600"/>
        </a:spcBef>
        <a:spcAft>
          <a:spcPts val="300"/>
        </a:spcAft>
        <a:buSzPct val="75000"/>
        <a:buFontTx/>
        <a:buBlip>
          <a:blip r:embed="rId7"/>
        </a:buBlip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300"/>
        </a:spcAft>
        <a:buSzPct val="60000"/>
        <a:buFontTx/>
        <a:buBlip>
          <a:blip r:embed="rId8"/>
        </a:buBlip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0F2AA4-1658-4F6B-BB02-7AF9E0610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731986"/>
            <a:ext cx="6858000" cy="12855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2200" dirty="0"/>
              <a:t>GV </a:t>
            </a:r>
            <a:r>
              <a:rPr lang="en-US" sz="2200" dirty="0" err="1"/>
              <a:t>hướng</a:t>
            </a:r>
            <a:r>
              <a:rPr lang="en-US" sz="2200" dirty="0"/>
              <a:t> </a:t>
            </a:r>
            <a:r>
              <a:rPr lang="en-US" sz="2200" dirty="0" err="1"/>
              <a:t>dẫn</a:t>
            </a:r>
            <a:r>
              <a:rPr lang="en-US" sz="2200" dirty="0"/>
              <a:t>: TS. Nguyễn Văn Hậu</a:t>
            </a:r>
          </a:p>
          <a:p>
            <a:pPr>
              <a:lnSpc>
                <a:spcPct val="120000"/>
              </a:lnSpc>
            </a:pPr>
            <a:r>
              <a:rPr lang="en-US" sz="2200" dirty="0" err="1"/>
              <a:t>Người</a:t>
            </a:r>
            <a:r>
              <a:rPr lang="en-US" sz="2200" dirty="0"/>
              <a:t> </a:t>
            </a:r>
            <a:r>
              <a:rPr lang="en-US" sz="2200" dirty="0" err="1"/>
              <a:t>thực</a:t>
            </a:r>
            <a:r>
              <a:rPr lang="en-US" sz="2200" dirty="0"/>
              <a:t> </a:t>
            </a:r>
            <a:r>
              <a:rPr lang="en-US" sz="2200" dirty="0" err="1"/>
              <a:t>hiện</a:t>
            </a:r>
            <a:r>
              <a:rPr lang="en-US" sz="2200" dirty="0"/>
              <a:t>: Hoàng Thị Minh Tâm</a:t>
            </a:r>
          </a:p>
          <a:p>
            <a:pPr>
              <a:lnSpc>
                <a:spcPct val="120000"/>
              </a:lnSpc>
            </a:pPr>
            <a:endParaRPr lang="en-US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740CD-B225-42B6-8F87-4767868EA9B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-1" y="6172200"/>
            <a:ext cx="9144001" cy="688017"/>
          </a:xfrm>
        </p:spPr>
        <p:txBody>
          <a:bodyPr/>
          <a:lstStyle/>
          <a:p>
            <a:pPr algn="ctr"/>
            <a:r>
              <a:rPr lang="en-US" sz="1400" b="1" dirty="0"/>
              <a:t>	HUNG YEN UNIVERSITY OF TECHNOLOGY AND EDUCATION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9CC8C5C-C223-A2F7-EA66-15FB397D3C00}"/>
              </a:ext>
            </a:extLst>
          </p:cNvPr>
          <p:cNvSpPr txBox="1">
            <a:spLocks/>
          </p:cNvSpPr>
          <p:nvPr/>
        </p:nvSpPr>
        <p:spPr>
          <a:xfrm>
            <a:off x="1142999" y="1557309"/>
            <a:ext cx="6858000" cy="23056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None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3200" b="1" dirty="0"/>
              <a:t>DỰ ĐOÁN NHU CẦU SẢN PHẨM</a:t>
            </a:r>
          </a:p>
          <a:p>
            <a:pPr>
              <a:lnSpc>
                <a:spcPct val="120000"/>
              </a:lnSpc>
            </a:pPr>
            <a:r>
              <a:rPr lang="en-US" sz="3200" b="1" dirty="0"/>
              <a:t>VÀ NGUY CƠ HẾT HÀNG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(Ridge Regression, Random Forest)</a:t>
            </a:r>
          </a:p>
        </p:txBody>
      </p:sp>
      <p:sp>
        <p:nvSpPr>
          <p:cNvPr id="20" name="Title 7">
            <a:extLst>
              <a:ext uri="{FF2B5EF4-FFF2-40B4-BE49-F238E27FC236}">
                <a16:creationId xmlns:a16="http://schemas.microsoft.com/office/drawing/2014/main" id="{9005EADD-7764-ADFE-DA23-1BE7531B87DA}"/>
              </a:ext>
            </a:extLst>
          </p:cNvPr>
          <p:cNvSpPr txBox="1">
            <a:spLocks/>
          </p:cNvSpPr>
          <p:nvPr/>
        </p:nvSpPr>
        <p:spPr>
          <a:xfrm>
            <a:off x="-1" y="0"/>
            <a:ext cx="9144001" cy="776810"/>
          </a:xfrm>
          <a:prstGeom prst="rect">
            <a:avLst/>
          </a:prstGeom>
          <a:gradFill>
            <a:gsLst>
              <a:gs pos="0">
                <a:srgbClr val="3366CC"/>
              </a:gs>
              <a:gs pos="50000">
                <a:srgbClr val="003399"/>
              </a:gs>
              <a:gs pos="100000">
                <a:srgbClr val="000066"/>
              </a:gs>
            </a:gsLst>
            <a:lin ang="0" scaled="1"/>
          </a:gradFill>
        </p:spPr>
        <p:txBody>
          <a:bodyPr anchor="ctr">
            <a:normAutofit/>
          </a:bodyPr>
          <a:lstStyle>
            <a:lvl1pPr marL="4572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1400" b="1" dirty="0"/>
              <a:t>MACHINE LEARNING</a:t>
            </a:r>
          </a:p>
        </p:txBody>
      </p:sp>
      <p:sp>
        <p:nvSpPr>
          <p:cNvPr id="13" name="Freeform 12" descr="TRƯỜNG ĐẠI HỌC SƯ PHẠM KỸ THUẬT HƯNG YÊN">
            <a:extLst>
              <a:ext uri="{FF2B5EF4-FFF2-40B4-BE49-F238E27FC236}">
                <a16:creationId xmlns:a16="http://schemas.microsoft.com/office/drawing/2014/main" id="{60B2618E-05E7-8013-31FC-8F4615D57CFE}"/>
              </a:ext>
            </a:extLst>
          </p:cNvPr>
          <p:cNvSpPr/>
          <p:nvPr/>
        </p:nvSpPr>
        <p:spPr>
          <a:xfrm>
            <a:off x="1447799" y="6267170"/>
            <a:ext cx="651802" cy="498076"/>
          </a:xfrm>
          <a:custGeom>
            <a:avLst/>
            <a:gdLst/>
            <a:ahLst/>
            <a:cxnLst/>
            <a:rect l="l" t="t" r="r" b="b"/>
            <a:pathLst>
              <a:path w="1263410" h="965438">
                <a:moveTo>
                  <a:pt x="0" y="0"/>
                </a:moveTo>
                <a:lnTo>
                  <a:pt x="1263409" y="0"/>
                </a:lnTo>
                <a:lnTo>
                  <a:pt x="1263409" y="965438"/>
                </a:lnTo>
                <a:lnTo>
                  <a:pt x="0" y="9654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33446"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E0958-CF81-4EDE-ACCE-0FE01E2D31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886" y="1087834"/>
            <a:ext cx="8209360" cy="4472782"/>
          </a:xfrm>
        </p:spPr>
        <p:txBody>
          <a:bodyPr>
            <a:normAutofit fontScale="92500" lnSpcReduction="10000"/>
          </a:bodyPr>
          <a:lstStyle/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quan</a:t>
            </a:r>
            <a:r>
              <a:rPr lang="en-US" sz="2400" dirty="0"/>
              <a:t> </a:t>
            </a: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endParaRPr lang="en-US" sz="2400" dirty="0"/>
          </a:p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 err="1"/>
              <a:t>Mô</a:t>
            </a:r>
            <a:r>
              <a:rPr lang="en-US" sz="2400" dirty="0"/>
              <a:t> </a:t>
            </a:r>
            <a:r>
              <a:rPr lang="en-US" sz="2400" dirty="0" err="1"/>
              <a:t>tả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</a:p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endParaRPr lang="en-US" sz="2400" dirty="0"/>
          </a:p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 err="1"/>
              <a:t>Mô</a:t>
            </a:r>
            <a:r>
              <a:rPr lang="en-US" sz="2400" dirty="0"/>
              <a:t>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học</a:t>
            </a:r>
            <a:r>
              <a:rPr lang="en-US" sz="2400" dirty="0"/>
              <a:t> </a:t>
            </a:r>
            <a:r>
              <a:rPr lang="en-US" sz="2400" dirty="0" err="1"/>
              <a:t>máy</a:t>
            </a:r>
            <a:endParaRPr lang="en-US" sz="2400" dirty="0"/>
          </a:p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/>
              <a:t>Cài </a:t>
            </a:r>
            <a:r>
              <a:rPr lang="en-US" sz="2400" dirty="0" err="1"/>
              <a:t>đặt</a:t>
            </a:r>
            <a:r>
              <a:rPr lang="en-US" sz="2400" dirty="0"/>
              <a:t> </a:t>
            </a:r>
            <a:r>
              <a:rPr lang="en-US" sz="2400" dirty="0" err="1"/>
              <a:t>mô</a:t>
            </a:r>
            <a:r>
              <a:rPr lang="en-US" sz="2400" dirty="0"/>
              <a:t> </a:t>
            </a:r>
            <a:r>
              <a:rPr lang="en-US" sz="2400" dirty="0" err="1"/>
              <a:t>hình</a:t>
            </a:r>
            <a:endParaRPr lang="en-US" sz="2400" dirty="0"/>
          </a:p>
          <a:p>
            <a:pPr marL="320040" lvl="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400" dirty="0" err="1"/>
              <a:t>Đánh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mô</a:t>
            </a:r>
            <a:r>
              <a:rPr lang="en-US" sz="2400" dirty="0"/>
              <a:t>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DB4C06-9CA4-4BE6-ABC0-E2E1B0BA6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442128"/>
          </a:xfrm>
        </p:spPr>
        <p:txBody>
          <a:bodyPr>
            <a:normAutofit fontScale="90000"/>
          </a:bodyPr>
          <a:lstStyle/>
          <a:p>
            <a:r>
              <a:rPr lang="en-US" dirty="0"/>
              <a:t>Outlines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FD4225-644F-F1A6-8349-041257BD61F0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2/17</a:t>
            </a:r>
          </a:p>
        </p:txBody>
      </p:sp>
    </p:spTree>
    <p:extLst>
      <p:ext uri="{BB962C8B-B14F-4D97-AF65-F5344CB8AC3E}">
        <p14:creationId xmlns:p14="http://schemas.microsoft.com/office/powerpoint/2010/main" val="30712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C64979-1275-33A8-5AAE-4F0DF1989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1" y="894304"/>
            <a:ext cx="7881770" cy="490359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Trong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lẻ</a:t>
            </a:r>
            <a:r>
              <a:rPr lang="en-US" dirty="0"/>
              <a:t>, </a:t>
            </a:r>
            <a:r>
              <a:rPr lang="en-US" dirty="0" err="1"/>
              <a:t>doanh</a:t>
            </a:r>
            <a:r>
              <a:rPr lang="en-US" dirty="0"/>
              <a:t> </a:t>
            </a:r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cân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tồn</a:t>
            </a:r>
            <a:r>
              <a:rPr lang="en-US" dirty="0"/>
              <a:t> </a:t>
            </a:r>
            <a:r>
              <a:rPr lang="en-US" dirty="0" err="1"/>
              <a:t>kho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nhiều</a:t>
            </a:r>
            <a:endParaRPr lang="en-US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D</a:t>
            </a:r>
            <a:r>
              <a:rPr lang="vi-VN" dirty="0"/>
              <a:t>ự báo nhu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vi-VN" dirty="0"/>
              <a:t> và phát hiện nguy cơ hết hàng là hai nhiệm vụ thực tế, hỗ trợ quyết định nhập hàng và phân bổ tồn kho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b="1" dirty="0"/>
              <a:t>Mục tiêu:</a:t>
            </a:r>
            <a:endParaRPr lang="vi-VN" dirty="0"/>
          </a:p>
          <a:p>
            <a:pPr lvl="1">
              <a:lnSpc>
                <a:spcPct val="150000"/>
              </a:lnSpc>
              <a:buFont typeface="Symbol" panose="05050102010706020507" pitchFamily="18" charset="2"/>
              <a:buChar char=""/>
            </a:pPr>
            <a:r>
              <a:rPr lang="vi-VN" sz="2200" dirty="0"/>
              <a:t>Dự đoán </a:t>
            </a:r>
            <a:r>
              <a:rPr lang="en-US" sz="2200" dirty="0" err="1"/>
              <a:t>nhu</a:t>
            </a:r>
            <a:r>
              <a:rPr lang="en-US" sz="2200" dirty="0"/>
              <a:t> </a:t>
            </a:r>
            <a:r>
              <a:rPr lang="en-US" sz="2200" dirty="0" err="1"/>
              <a:t>cầu</a:t>
            </a:r>
            <a:r>
              <a:rPr lang="vi-VN" sz="2200" dirty="0"/>
              <a:t> dựa trên các đặc trưng ảnh hưởng đến nhu cầu</a:t>
            </a:r>
          </a:p>
          <a:p>
            <a:pPr lvl="1">
              <a:lnSpc>
                <a:spcPct val="150000"/>
              </a:lnSpc>
              <a:buFont typeface="Symbol" panose="05050102010706020507" pitchFamily="18" charset="2"/>
              <a:buChar char=""/>
            </a:pPr>
            <a:r>
              <a:rPr lang="vi-VN" sz="2200" dirty="0"/>
              <a:t>Dự đoán nguy cơ hết hàng để cảnh báo sớm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D8E016-9BAF-9C56-1B91-32D0C158E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/>
              <a:t>1. </a:t>
            </a:r>
            <a:r>
              <a:rPr lang="en-US" sz="2700" dirty="0" err="1"/>
              <a:t>Tổng</a:t>
            </a:r>
            <a:r>
              <a:rPr lang="en-US" sz="2700" dirty="0"/>
              <a:t> </a:t>
            </a:r>
            <a:r>
              <a:rPr lang="en-US" sz="2700" dirty="0" err="1"/>
              <a:t>quan</a:t>
            </a:r>
            <a:r>
              <a:rPr lang="en-US" sz="2700" dirty="0"/>
              <a:t> </a:t>
            </a:r>
            <a:r>
              <a:rPr lang="en-US" sz="2700" dirty="0" err="1"/>
              <a:t>bài</a:t>
            </a:r>
            <a:r>
              <a:rPr lang="en-US" sz="2700" dirty="0"/>
              <a:t> </a:t>
            </a:r>
            <a:r>
              <a:rPr lang="en-US" sz="2700" dirty="0" err="1"/>
              <a:t>toán</a:t>
            </a:r>
            <a:br>
              <a:rPr lang="en-US" sz="2800" b="1" dirty="0"/>
            </a:br>
            <a:br>
              <a:rPr lang="en-US" b="1" dirty="0"/>
            </a:b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A269D-1652-6515-86A1-65B6E267D474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3/17</a:t>
            </a:r>
          </a:p>
        </p:txBody>
      </p:sp>
    </p:spTree>
    <p:extLst>
      <p:ext uri="{BB962C8B-B14F-4D97-AF65-F5344CB8AC3E}">
        <p14:creationId xmlns:p14="http://schemas.microsoft.com/office/powerpoint/2010/main" val="289895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76B77-ECC3-655D-C807-934C8ABD4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A4E816-A9CE-2BE2-B5C7-0CE57BD4D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0034" y="759269"/>
            <a:ext cx="7511941" cy="550734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Dataset: Retail Store Inventory and Demand Forecasting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Gồm</a:t>
            </a:r>
            <a:r>
              <a:rPr lang="en-US" sz="2000" dirty="0"/>
              <a:t>: 16 </a:t>
            </a:r>
            <a:r>
              <a:rPr lang="en-US" sz="2000" dirty="0" err="1"/>
              <a:t>đặc</a:t>
            </a:r>
            <a:r>
              <a:rPr lang="en-US" sz="2000" dirty="0"/>
              <a:t> </a:t>
            </a:r>
            <a:r>
              <a:rPr lang="en-US" sz="2000" dirty="0" err="1"/>
              <a:t>trưng</a:t>
            </a:r>
            <a:r>
              <a:rPr lang="en-US" sz="2000" dirty="0"/>
              <a:t>, </a:t>
            </a:r>
            <a:r>
              <a:rPr lang="en-US" dirty="0"/>
              <a:t>76000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ghi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Source: https://www.kaggle.com/code/christophergspencer/retail-store-inventory-and-demand-forecasting?kernelSessionId=252148614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659C16-5A2F-4B05-D8E2-D2E6C3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827BDF76-B277-5F57-89EA-7E278CA5A169}"/>
              </a:ext>
            </a:extLst>
          </p:cNvPr>
          <p:cNvSpPr txBox="1">
            <a:spLocks/>
          </p:cNvSpPr>
          <p:nvPr/>
        </p:nvSpPr>
        <p:spPr>
          <a:xfrm>
            <a:off x="670034" y="5560955"/>
            <a:ext cx="8162467" cy="824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36576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Blip>
                <a:blip r:embed="rId3"/>
              </a:buBlip>
              <a:defRPr sz="2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74320" algn="l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Blip>
                <a:blip r:embed="rId5"/>
              </a:buBlip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748FA-EACA-DC69-1A3E-05FA7DAFEE7F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5/17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B15C8B-0CB9-1580-F109-9B6BE6AA28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495" y="2669813"/>
            <a:ext cx="6697010" cy="15146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AE19F67-06CC-C8FA-47F1-0675645581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337" y="4477738"/>
            <a:ext cx="6811326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028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D34D2-6088-2645-2418-01A8FCA19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C0468-8747-0BD0-6F30-85E011F63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3E7E5CD-D868-FE83-97F0-7BA50A4CD902}"/>
              </a:ext>
            </a:extLst>
          </p:cNvPr>
          <p:cNvSpPr txBox="1">
            <a:spLocks/>
          </p:cNvSpPr>
          <p:nvPr/>
        </p:nvSpPr>
        <p:spPr>
          <a:xfrm>
            <a:off x="670034" y="5560955"/>
            <a:ext cx="8162467" cy="824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36576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Blip>
                <a:blip r:embed="rId3"/>
              </a:buBlip>
              <a:defRPr sz="2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74320" algn="l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Blip>
                <a:blip r:embed="rId5"/>
              </a:buBlip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F285A8-D245-0A54-E9F2-31641A20D580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5/17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05D214-D76B-059A-2BD5-503124C612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430" y="1190673"/>
            <a:ext cx="3283003" cy="21701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C23719-9F1C-14F5-993D-5C3DB862CB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2691" y="1214032"/>
            <a:ext cx="3103508" cy="2054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A4F5383-BFD3-A338-07E5-519AB664F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2273" y="1190673"/>
            <a:ext cx="2987926" cy="210617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ABC8AC-A306-21F6-66FF-8EE65DFE01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961" y="3181312"/>
            <a:ext cx="3109504" cy="20554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D2DC469-E81C-33AD-DD77-601BABD91D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6867" y="3215519"/>
            <a:ext cx="3019426" cy="201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700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3C76E-4DF8-2552-6E79-091B5CC28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E1654-BC7A-E72A-6A33-6A62918D0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190D4BC8-6F57-76F2-105B-0E7779BCCBC7}"/>
              </a:ext>
            </a:extLst>
          </p:cNvPr>
          <p:cNvSpPr txBox="1">
            <a:spLocks/>
          </p:cNvSpPr>
          <p:nvPr/>
        </p:nvSpPr>
        <p:spPr>
          <a:xfrm>
            <a:off x="670034" y="5560955"/>
            <a:ext cx="8162467" cy="824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36576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Blip>
                <a:blip r:embed="rId3"/>
              </a:buBlip>
              <a:defRPr sz="2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74320" algn="l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Blip>
                <a:blip r:embed="rId5"/>
              </a:buBlip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25BE30-02FB-AA1A-5479-B43EE35935A1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5/17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219C5-FAE0-7634-034F-5438E27672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288" y="850755"/>
            <a:ext cx="3669003" cy="24252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BCCE86-349B-3C29-B369-F5141076F8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4963" y="875701"/>
            <a:ext cx="3669003" cy="24252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3C9F7FA-F6AC-3930-9472-2B081A2E01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267" y="3367389"/>
            <a:ext cx="3550394" cy="25532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B8834D-0284-C420-39E6-6435707A43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339" y="3429000"/>
            <a:ext cx="3486952" cy="242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829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13D0-5317-E37F-91CB-C69101C8A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0FDAF-14CD-22E6-6EF9-318B5170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823F2B8-D72F-5370-9224-B5BAC1080945}"/>
              </a:ext>
            </a:extLst>
          </p:cNvPr>
          <p:cNvSpPr txBox="1">
            <a:spLocks/>
          </p:cNvSpPr>
          <p:nvPr/>
        </p:nvSpPr>
        <p:spPr>
          <a:xfrm>
            <a:off x="670034" y="5560955"/>
            <a:ext cx="8162467" cy="824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36576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Blip>
                <a:blip r:embed="rId3"/>
              </a:buBlip>
              <a:defRPr sz="2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74320" algn="l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Blip>
                <a:blip r:embed="rId5"/>
              </a:buBlip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9774A1-8A01-A27B-77D9-C2FBF27C2E8B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5/17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96A4D-D747-EA1B-F8C2-2AF29F4E2E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766" y="1664188"/>
            <a:ext cx="8162467" cy="32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9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E027D-05B2-7019-63FA-5C2A496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B18D4-E6F3-8CAE-E33F-9152C07D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CD25FB20-4B1F-E5D3-00C3-371F33BCA63E}"/>
              </a:ext>
            </a:extLst>
          </p:cNvPr>
          <p:cNvSpPr txBox="1">
            <a:spLocks/>
          </p:cNvSpPr>
          <p:nvPr/>
        </p:nvSpPr>
        <p:spPr>
          <a:xfrm>
            <a:off x="670034" y="5560955"/>
            <a:ext cx="8162467" cy="824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36576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FontTx/>
              <a:buBlip>
                <a:blip r:embed="rId3"/>
              </a:buBlip>
              <a:defRPr sz="2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74320" algn="l" defTabSz="914400" rtl="0" eaLnBrk="1" latinLnBrk="0" hangingPunct="1">
              <a:lnSpc>
                <a:spcPct val="114000"/>
              </a:lnSpc>
              <a:spcBef>
                <a:spcPts val="600"/>
              </a:spcBef>
              <a:spcAft>
                <a:spcPts val="300"/>
              </a:spcAft>
              <a:buSzPct val="75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ct val="60000"/>
              <a:buFontTx/>
              <a:buBlip>
                <a:blip r:embed="rId5"/>
              </a:buBlip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0F2233-4CCF-6047-C1D5-61945ED854EC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5/17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920C87-2761-1577-6B32-64C3C282F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49" y="832715"/>
            <a:ext cx="7143702" cy="555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353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047F9-5B2B-728A-BDA3-C496ABD9C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1EFCF2-5F49-54DE-FFC4-00B74560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máy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45785-DEC1-1345-9907-FDD9B9789710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EAE92-7A0A-15A4-1700-77A6158EA7EB}"/>
              </a:ext>
            </a:extLst>
          </p:cNvPr>
          <p:cNvSpPr txBox="1"/>
          <p:nvPr/>
        </p:nvSpPr>
        <p:spPr>
          <a:xfrm>
            <a:off x="704850" y="990600"/>
            <a:ext cx="7886700" cy="1055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Ridge Regression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/>
              <a:t>Ramdom</a:t>
            </a:r>
            <a:r>
              <a:rPr lang="en-US" sz="2200" dirty="0"/>
              <a:t> Forest</a:t>
            </a:r>
          </a:p>
        </p:txBody>
      </p:sp>
    </p:spTree>
    <p:extLst>
      <p:ext uri="{BB962C8B-B14F-4D97-AF65-F5344CB8AC3E}">
        <p14:creationId xmlns:p14="http://schemas.microsoft.com/office/powerpoint/2010/main" val="559971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0633-045B-0A14-280C-A0B257632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88A45C-1022-D675-AC5B-6463993AD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máy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A23D9F-172E-28F0-1382-798A00648F8D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7AFA6F-B9A9-921F-7F1E-4E5ACB835C05}"/>
              </a:ext>
            </a:extLst>
          </p:cNvPr>
          <p:cNvSpPr txBox="1"/>
          <p:nvPr/>
        </p:nvSpPr>
        <p:spPr>
          <a:xfrm>
            <a:off x="704850" y="990600"/>
            <a:ext cx="7886700" cy="2071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Ridge Regression: </a:t>
            </a:r>
            <a:r>
              <a:rPr lang="en-US" sz="2200" dirty="0" err="1"/>
              <a:t>một</a:t>
            </a:r>
            <a:r>
              <a:rPr lang="en-US" sz="2200" dirty="0"/>
              <a:t> </a:t>
            </a:r>
            <a:r>
              <a:rPr lang="en-US" sz="2200" dirty="0" err="1"/>
              <a:t>biến</a:t>
            </a:r>
            <a:r>
              <a:rPr lang="en-US" sz="2200" dirty="0"/>
              <a:t> </a:t>
            </a:r>
            <a:r>
              <a:rPr lang="en-US" sz="2200" dirty="0" err="1"/>
              <a:t>thể</a:t>
            </a:r>
            <a:r>
              <a:rPr lang="en-US" sz="2200" dirty="0"/>
              <a:t> </a:t>
            </a:r>
            <a:r>
              <a:rPr lang="en-US" sz="2200" dirty="0" err="1"/>
              <a:t>của</a:t>
            </a:r>
            <a:r>
              <a:rPr lang="en-US" sz="2200" dirty="0"/>
              <a:t> </a:t>
            </a:r>
            <a:r>
              <a:rPr lang="en-US" sz="2200" dirty="0" err="1"/>
              <a:t>hồi</a:t>
            </a:r>
            <a:r>
              <a:rPr lang="en-US" sz="2200" dirty="0"/>
              <a:t> </a:t>
            </a:r>
            <a:r>
              <a:rPr lang="en-US" sz="2200" dirty="0" err="1"/>
              <a:t>quy</a:t>
            </a:r>
            <a:r>
              <a:rPr lang="en-US" sz="2200" dirty="0"/>
              <a:t> </a:t>
            </a:r>
            <a:r>
              <a:rPr lang="en-US" sz="2200" dirty="0" err="1"/>
              <a:t>tuyến</a:t>
            </a:r>
            <a:r>
              <a:rPr lang="en-US" sz="2200" dirty="0"/>
              <a:t> </a:t>
            </a:r>
            <a:r>
              <a:rPr lang="en-US" sz="2200" dirty="0" err="1"/>
              <a:t>tính</a:t>
            </a:r>
            <a:endParaRPr lang="en-US" sz="22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/>
              <a:t>Giải</a:t>
            </a:r>
            <a:r>
              <a:rPr lang="en-US" sz="2200" dirty="0"/>
              <a:t> </a:t>
            </a:r>
            <a:r>
              <a:rPr lang="en-US" sz="2200" dirty="0" err="1"/>
              <a:t>quyết</a:t>
            </a:r>
            <a:r>
              <a:rPr lang="en-US" sz="2200" dirty="0"/>
              <a:t> </a:t>
            </a:r>
            <a:r>
              <a:rPr lang="en-US" sz="2200" dirty="0" err="1"/>
              <a:t>vấn</a:t>
            </a:r>
            <a:r>
              <a:rPr lang="en-US" sz="2200" dirty="0"/>
              <a:t> </a:t>
            </a:r>
            <a:r>
              <a:rPr lang="en-US" sz="2200" dirty="0" err="1"/>
              <a:t>đề</a:t>
            </a:r>
            <a:r>
              <a:rPr lang="en-US" sz="2200" dirty="0"/>
              <a:t> </a:t>
            </a:r>
            <a:r>
              <a:rPr lang="en-US" sz="2200" dirty="0" err="1"/>
              <a:t>Overfiting</a:t>
            </a:r>
            <a:r>
              <a:rPr lang="en-US" sz="2200" dirty="0"/>
              <a:t> </a:t>
            </a:r>
            <a:r>
              <a:rPr lang="en-US" sz="2200" dirty="0" err="1"/>
              <a:t>trong</a:t>
            </a:r>
            <a:r>
              <a:rPr lang="en-US" sz="2200" dirty="0"/>
              <a:t> </a:t>
            </a:r>
            <a:r>
              <a:rPr lang="en-US" sz="2200" dirty="0" err="1"/>
              <a:t>các</a:t>
            </a:r>
            <a:r>
              <a:rPr lang="en-US" sz="2200" dirty="0"/>
              <a:t> </a:t>
            </a:r>
            <a:r>
              <a:rPr lang="en-US" sz="2200" dirty="0" err="1"/>
              <a:t>mô</a:t>
            </a:r>
            <a:r>
              <a:rPr lang="en-US" sz="2200" dirty="0"/>
              <a:t> </a:t>
            </a:r>
            <a:r>
              <a:rPr lang="en-US" sz="2200" dirty="0" err="1"/>
              <a:t>hình</a:t>
            </a:r>
            <a:r>
              <a:rPr lang="en-US" sz="2200" dirty="0"/>
              <a:t> </a:t>
            </a:r>
            <a:r>
              <a:rPr lang="en-US" sz="2200" dirty="0" err="1"/>
              <a:t>hồi</a:t>
            </a:r>
            <a:r>
              <a:rPr lang="en-US" sz="2200" dirty="0"/>
              <a:t> </a:t>
            </a:r>
            <a:r>
              <a:rPr lang="en-US" sz="2200" dirty="0" err="1"/>
              <a:t>quy</a:t>
            </a:r>
            <a:endParaRPr lang="en-US" sz="22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8620D0-95F2-C54E-95F4-539B7A17B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720" y="2537860"/>
            <a:ext cx="4544059" cy="10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360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F7391-AB0B-1475-9AEB-A138809D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B63797-0CFA-A3D1-DB30-8DFF8A699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máy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7DE5E7-02C6-99F5-7228-05CE05E04E44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8AA2C2-56F2-4551-9C63-A3BA57AA7397}"/>
              </a:ext>
            </a:extLst>
          </p:cNvPr>
          <p:cNvSpPr txBox="1"/>
          <p:nvPr/>
        </p:nvSpPr>
        <p:spPr>
          <a:xfrm>
            <a:off x="704850" y="990600"/>
            <a:ext cx="7886700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Ramdom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Forest: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ensemble,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cây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loại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hồi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quy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Trong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loại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-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Huấn luyện nhiều cây quyết định song song</a:t>
            </a:r>
          </a:p>
          <a:p>
            <a:pPr fontAlgn="base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-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Mỗi cây là một mô hình dự đoán độc lập</a:t>
            </a:r>
          </a:p>
          <a:p>
            <a:pPr fontAlgn="base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-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Gộp kết quả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chọn kết quả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sz="22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634503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1F016-0B36-8245-E2FE-C601CA2A8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AC48B7-F450-C4ED-228F-0F6B50382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5A73D0-C5F7-A856-23A4-7F950D390F98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958560-76C5-6318-5788-FAC382327DDB}"/>
              </a:ext>
            </a:extLst>
          </p:cNvPr>
          <p:cNvSpPr txBox="1"/>
          <p:nvPr/>
        </p:nvSpPr>
        <p:spPr>
          <a:xfrm>
            <a:off x="704850" y="990600"/>
            <a:ext cx="7886700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Tiền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Feature Scaling: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 kỹ thuật tiền xử lý dữ liệu trong Học máy, giúp đưa các biến số (features) về cùng một thang đo chung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One-Hot Encoding: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kỹ thuật tiền xử lý dữ liệu quan trọng trong 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>
                <a:latin typeface="Arial" panose="020B0604020202020204" pitchFamily="34" charset="0"/>
                <a:cs typeface="Arial" panose="020B0604020202020204" pitchFamily="34" charset="0"/>
              </a:rPr>
              <a:t>dùng để chuyển đổi biến phân thành dạng số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06895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1B2C5-F6C2-D417-909C-4DFB499B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CCF67F-2331-3200-C9EE-FCFA638B2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EEE0F-C0B2-3E05-5AB1-936965ABCD79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F5D92-B430-C8D9-6807-82B705159F40}"/>
              </a:ext>
            </a:extLst>
          </p:cNvPr>
          <p:cNvSpPr txBox="1"/>
          <p:nvPr/>
        </p:nvSpPr>
        <p:spPr>
          <a:xfrm>
            <a:off x="704850" y="990600"/>
            <a:ext cx="7886700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Metric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Regression: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MAE, RMSE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Random Forest: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Precision, Recall, F1-Score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301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CC62-DFF0-706F-F980-AC1370AF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B74930-A699-D776-AAB6-0CCE5CBF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CD8392-FA36-CABD-368F-0F3C7CBF468F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B75A80-06B3-E099-9E0D-6E12EBB8A9BB}"/>
              </a:ext>
            </a:extLst>
          </p:cNvPr>
          <p:cNvSpPr txBox="1"/>
          <p:nvPr/>
        </p:nvSpPr>
        <p:spPr>
          <a:xfrm>
            <a:off x="781050" y="1076619"/>
            <a:ext cx="7886700" cy="586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MAE - </a:t>
            </a:r>
            <a:r>
              <a:rPr lang="en-US" sz="2400" dirty="0"/>
              <a:t>Mean Absolute Error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en-US" sz="2400" dirty="0" err="1"/>
              <a:t>sai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tuyệt</a:t>
            </a:r>
            <a:r>
              <a:rPr lang="en-US" sz="2400" dirty="0"/>
              <a:t> </a:t>
            </a:r>
            <a:r>
              <a:rPr lang="en-US" sz="2400" dirty="0" err="1"/>
              <a:t>đối</a:t>
            </a:r>
            <a:r>
              <a:rPr lang="en-US" sz="2400" dirty="0"/>
              <a:t> </a:t>
            </a:r>
            <a:r>
              <a:rPr lang="en-US" sz="2400" dirty="0" err="1"/>
              <a:t>trung</a:t>
            </a:r>
            <a:r>
              <a:rPr lang="en-US" sz="2400" dirty="0"/>
              <a:t> </a:t>
            </a:r>
            <a:r>
              <a:rPr lang="en-US" sz="2400" dirty="0" err="1"/>
              <a:t>bình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AutoShape 4" descr="MAE">
            <a:extLst>
              <a:ext uri="{FF2B5EF4-FFF2-40B4-BE49-F238E27FC236}">
                <a16:creationId xmlns:a16="http://schemas.microsoft.com/office/drawing/2014/main" id="{69C05628-FFB6-08FA-BF5A-EDBF41D0F9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2D4664-4214-3AC2-06B1-7A479C08D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35" y="2125346"/>
            <a:ext cx="2905530" cy="9240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0CFB56-8800-363B-A818-C0FBFB2AB180}"/>
              </a:ext>
            </a:extLst>
          </p:cNvPr>
          <p:cNvSpPr txBox="1"/>
          <p:nvPr/>
        </p:nvSpPr>
        <p:spPr>
          <a:xfrm>
            <a:off x="781050" y="3049400"/>
            <a:ext cx="7886700" cy="1131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RMSE</a:t>
            </a:r>
            <a:r>
              <a:rPr lang="en-US" sz="2400" dirty="0"/>
              <a:t> — Root Mean Squared Error: </a:t>
            </a:r>
            <a:r>
              <a:rPr lang="vi-VN" sz="2400" dirty="0"/>
              <a:t>Căn sai số bình phương trung bình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9CBE21-B12C-0815-D049-35AD884B1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726" y="4567064"/>
            <a:ext cx="3820058" cy="10764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0884CB-2699-B120-BA86-672F10269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69" y="4690906"/>
            <a:ext cx="295316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305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DFEFC-D4C6-41F7-AED1-3E577BB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BB79A3-0F9E-E0FE-8758-8AD3C0C22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56E4C9-0417-5609-7982-9E5463C3A902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3A0110-6AFD-D610-00CC-B0ADD7B7A8E4}"/>
              </a:ext>
            </a:extLst>
          </p:cNvPr>
          <p:cNvSpPr txBox="1"/>
          <p:nvPr/>
        </p:nvSpPr>
        <p:spPr>
          <a:xfrm>
            <a:off x="781050" y="1076619"/>
            <a:ext cx="7886700" cy="586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MAE - </a:t>
            </a:r>
            <a:r>
              <a:rPr lang="en-US" sz="2400" dirty="0"/>
              <a:t>Mean Absolute Error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en-US" sz="2400" dirty="0" err="1"/>
              <a:t>sai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tuyệt</a:t>
            </a:r>
            <a:r>
              <a:rPr lang="en-US" sz="2400" dirty="0"/>
              <a:t> </a:t>
            </a:r>
            <a:r>
              <a:rPr lang="en-US" sz="2400" dirty="0" err="1"/>
              <a:t>đối</a:t>
            </a:r>
            <a:r>
              <a:rPr lang="en-US" sz="2400" dirty="0"/>
              <a:t> </a:t>
            </a:r>
            <a:r>
              <a:rPr lang="en-US" sz="2400" dirty="0" err="1"/>
              <a:t>trung</a:t>
            </a:r>
            <a:r>
              <a:rPr lang="en-US" sz="2400" dirty="0"/>
              <a:t> </a:t>
            </a:r>
            <a:r>
              <a:rPr lang="en-US" sz="2400" dirty="0" err="1"/>
              <a:t>bình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AutoShape 4" descr="MAE">
            <a:extLst>
              <a:ext uri="{FF2B5EF4-FFF2-40B4-BE49-F238E27FC236}">
                <a16:creationId xmlns:a16="http://schemas.microsoft.com/office/drawing/2014/main" id="{C377DEED-B84F-060D-A8DF-429929E5F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262C07-2ADE-FDB8-1EBC-544CCACEC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35" y="2125346"/>
            <a:ext cx="2905530" cy="9240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A2DB4F-3BFE-A2E2-BD67-3CD2FD9A6A30}"/>
              </a:ext>
            </a:extLst>
          </p:cNvPr>
          <p:cNvSpPr txBox="1"/>
          <p:nvPr/>
        </p:nvSpPr>
        <p:spPr>
          <a:xfrm>
            <a:off x="781050" y="3049400"/>
            <a:ext cx="7886700" cy="1131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RMSE</a:t>
            </a:r>
            <a:r>
              <a:rPr lang="en-US" sz="2400" dirty="0"/>
              <a:t> — Root Mean Squared Error: </a:t>
            </a:r>
            <a:r>
              <a:rPr lang="vi-VN" sz="2400" dirty="0"/>
              <a:t>Căn sai số bình phương trung bình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A1484DB-113A-3687-BB17-46F4140B4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726" y="4567064"/>
            <a:ext cx="3820058" cy="10764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6BE251-1824-1D82-9D8E-6EC6F4C6C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69" y="4690906"/>
            <a:ext cx="295316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884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AAA6C-A498-96D4-7496-90AF1B48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813AC9-720A-A084-FF9B-6513A034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3974BE-C27E-1C06-B34D-B9474959C1FA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032B52-2C71-5180-CA7D-29FDF696D6A0}"/>
              </a:ext>
            </a:extLst>
          </p:cNvPr>
          <p:cNvSpPr txBox="1"/>
          <p:nvPr/>
        </p:nvSpPr>
        <p:spPr>
          <a:xfrm>
            <a:off x="704850" y="828675"/>
            <a:ext cx="7886700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Precision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tỷ lệ giữa số lượng dự đoán đúng và tổng số mẫu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AE3B04-FBCB-B50E-6632-4CFB2566E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066" y="1227616"/>
            <a:ext cx="3191320" cy="8764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A9658F-177A-670F-2B52-61352EE6032E}"/>
              </a:ext>
            </a:extLst>
          </p:cNvPr>
          <p:cNvSpPr txBox="1"/>
          <p:nvPr/>
        </p:nvSpPr>
        <p:spPr>
          <a:xfrm>
            <a:off x="704850" y="2103719"/>
            <a:ext cx="7886700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đúng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mẫu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AE3FB-67DD-F184-6AFD-7D71B3838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119" y="3033657"/>
            <a:ext cx="2429214" cy="7906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31030B-FCE0-9996-278F-A2B900E9BF1A}"/>
              </a:ext>
            </a:extLst>
          </p:cNvPr>
          <p:cNvSpPr txBox="1"/>
          <p:nvPr/>
        </p:nvSpPr>
        <p:spPr>
          <a:xfrm>
            <a:off x="746216" y="3882246"/>
            <a:ext cx="7886700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hòa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Precision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Recall,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cân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hai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5BD3D1-4C8F-1183-CD81-0F12F44FC9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2932" y="5036009"/>
            <a:ext cx="3353268" cy="87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90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F41B0-1260-1F66-1A90-BAD1B4E0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62BEAA-904E-605E-CA14-6456D80A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6CC17A-6991-D5C2-D0D0-F5CD5F4083D8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CB0BF-7006-BEB1-8465-2B179789975E}"/>
              </a:ext>
            </a:extLst>
          </p:cNvPr>
          <p:cNvSpPr txBox="1"/>
          <p:nvPr/>
        </p:nvSpPr>
        <p:spPr>
          <a:xfrm>
            <a:off x="627376" y="672577"/>
            <a:ext cx="78867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Ridge Regression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dự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đoán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nhu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phẩm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E470D0-B4F1-4D17-9DDE-74B22EF28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1370481"/>
            <a:ext cx="7162800" cy="471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918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9CFE-81A6-A37B-58BC-C6B4AEDDE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21DE7A-68AE-6C09-797F-6AB69E331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CBA10-6063-ED48-23A3-DB9E363285CF}"/>
              </a:ext>
            </a:extLst>
          </p:cNvPr>
          <p:cNvSpPr/>
          <p:nvPr/>
        </p:nvSpPr>
        <p:spPr>
          <a:xfrm>
            <a:off x="0" y="6513816"/>
            <a:ext cx="9144000" cy="344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8/17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9BA67-4F08-655F-03E2-996809CB8A2B}"/>
              </a:ext>
            </a:extLst>
          </p:cNvPr>
          <p:cNvSpPr txBox="1"/>
          <p:nvPr/>
        </p:nvSpPr>
        <p:spPr>
          <a:xfrm>
            <a:off x="627376" y="642996"/>
            <a:ext cx="78867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Random Forest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dự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đoán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nguy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Stockout: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98C0F8-0D59-95F1-96C6-78DCC1B44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5" y="1311319"/>
            <a:ext cx="7105650" cy="480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0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E43505-1685-B5D8-672F-90215921DA78}"/>
              </a:ext>
            </a:extLst>
          </p:cNvPr>
          <p:cNvSpPr/>
          <p:nvPr/>
        </p:nvSpPr>
        <p:spPr>
          <a:xfrm>
            <a:off x="936651" y="2967335"/>
            <a:ext cx="727070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  <a:solidFill>
                  <a:srgbClr val="3366CC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</a:rPr>
              <a:t>THANKS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1618183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26177</TotalTime>
  <Words>617</Words>
  <Application>Microsoft Office PowerPoint</Application>
  <PresentationFormat>On-screen Show (4:3)</PresentationFormat>
  <Paragraphs>88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Symbol</vt:lpstr>
      <vt:lpstr>Wingdings</vt:lpstr>
      <vt:lpstr>Office Theme</vt:lpstr>
      <vt:lpstr>PowerPoint Presentation</vt:lpstr>
      <vt:lpstr>Outlines</vt:lpstr>
      <vt:lpstr>1. Tổng quan bài toán  </vt:lpstr>
      <vt:lpstr>2. Mô tả dữ liệu</vt:lpstr>
      <vt:lpstr>2. Phân tích dữ liệu</vt:lpstr>
      <vt:lpstr>2. Phân tích dữ liệu</vt:lpstr>
      <vt:lpstr>2. Phân tích dữ liệu</vt:lpstr>
      <vt:lpstr>2. Phân tích dữ liệu</vt:lpstr>
      <vt:lpstr>3. Mô hình học máy</vt:lpstr>
      <vt:lpstr>3. Mô hình học máy</vt:lpstr>
      <vt:lpstr>3. Mô hình học máy</vt:lpstr>
      <vt:lpstr>4. Cài đặt mô hình</vt:lpstr>
      <vt:lpstr>4. Cài đặt mô hình</vt:lpstr>
      <vt:lpstr>4. Cài đặt mô hình</vt:lpstr>
      <vt:lpstr>4. Cài đặt mô hình</vt:lpstr>
      <vt:lpstr>4. Cài đặt mô hình</vt:lpstr>
      <vt:lpstr>4. Cài đặt mô hình</vt:lpstr>
      <vt:lpstr>4. Cài đặt mô hình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2 - Xu ly du lieu lon voi Spark DataFrame- Nguyen Van Quyet</dc:title>
  <dc:creator>Quyet Nguyen</dc:creator>
  <cp:lastModifiedBy>Tâm Hoàng</cp:lastModifiedBy>
  <cp:revision>2066</cp:revision>
  <cp:lastPrinted>2019-05-23T13:04:15Z</cp:lastPrinted>
  <dcterms:created xsi:type="dcterms:W3CDTF">2019-03-28T16:26:48Z</dcterms:created>
  <dcterms:modified xsi:type="dcterms:W3CDTF">2026-01-04T15:23:51Z</dcterms:modified>
</cp:coreProperties>
</file>